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/>
      <p:italic r:id="rId13"/>
    </p:embeddedFont>
    <p:embeddedFont>
      <p:font typeface="JetBrains Mono"/>
      <p:bold r:id="rId14"/>
    </p:embeddedFont>
    <p:embeddedFont>
      <p:font typeface="Neue Haas Grotesk Text Pro" panose="020B0504020202020204" pitchFamily="34" charset="0"/>
      <p:regular r:id="rId15"/>
      <p:bold r:id="rId16"/>
      <p:italic r:id="rId17"/>
      <p:boldItalic r:id="rId18"/>
    </p:embeddedFont>
    <p:embeddedFont>
      <p:font typeface="Space Grotesk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756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08EF9F-8638-49B9-9963-2791F740DF41}" type="datetimeFigureOut">
              <a:rPr lang="es-BO" smtClean="0"/>
              <a:t>19/10/2026</a:t>
            </a:fld>
            <a:endParaRPr lang="es-B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691B4-A3CD-46A6-BD27-C9049B46D0F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87527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691B4-A3CD-46A6-BD27-C9049B46D0F7}" type="slidenum">
              <a:rPr lang="es-BO" smtClean="0"/>
              <a:t>2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917187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611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70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95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21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468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05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s-ES"/>
              <a:t>Haga clic para modificar los estilos de texto del patrón</a:t>
            </a:r>
          </a:p>
          <a:p>
            <a:pPr marL="228600" lvl="1" indent="-228600"/>
            <a:r>
              <a:rPr lang="es-ES"/>
              <a:t>Segundo nivel</a:t>
            </a:r>
          </a:p>
          <a:p>
            <a:pPr marL="228600" lvl="2" indent="-228600"/>
            <a:r>
              <a:rPr lang="es-ES"/>
              <a:t>Tercer nivel</a:t>
            </a:r>
          </a:p>
          <a:p>
            <a:pPr marL="228600" lvl="3" indent="-228600"/>
            <a:r>
              <a:rPr lang="es-ES"/>
              <a:t>Cuarto nivel</a:t>
            </a:r>
          </a:p>
          <a:p>
            <a:pPr marL="228600" lvl="4" indent="-228600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2134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38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33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1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24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496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7281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53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58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80803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14682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271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4127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371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4484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449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55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981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839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3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01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96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029200"/>
            <a:ext cx="10972800" cy="121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48903" y="5642858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UNIVERSIDAD PRIVADA DOMINGO SAVIO • INGENIERÍA DE SISTEMAS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14400"/>
            <a:ext cx="11251406" cy="4600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sz="3150" b="1" i="0" u="none">
                <a:solidFill>
                  <a:srgbClr val="FFFFFF"/>
                </a:solidFill>
                <a:latin typeface="Space Grotesk"/>
              </a:rPr>
              <a:t>ACTIVIDAD 2: EVOLUCIÓN DEL CATÁLOGO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22874"/>
            <a:ext cx="489339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94A3B8"/>
                </a:solidFill>
                <a:latin typeface="Inter"/>
              </a:rPr>
              <a:t>PHP, Arquitectura MVC, MySQL, PDO y CRUD Seguro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4081" y="3711605"/>
            <a:ext cx="255679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64748B"/>
                </a:solidFill>
                <a:latin typeface="Inter"/>
              </a:rPr>
              <a:t>INTEGRANTES DEL EQUIPO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56040" y="4075551"/>
            <a:ext cx="3448050" cy="1365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>
                <a:solidFill>
                  <a:srgbClr val="F1F5F9"/>
                </a:solidFill>
                <a:latin typeface="Inter"/>
              </a:rPr>
              <a:t>• Alejandro Fabián Cabrera Flores</a:t>
            </a:r>
            <a:r>
              <a:rPr dirty="0"/>
              <a:t>
</a:t>
            </a:r>
            <a:r>
              <a:rPr b="0" i="0" u="none" dirty="0">
                <a:solidFill>
                  <a:srgbClr val="F1F5F9"/>
                </a:solidFill>
                <a:latin typeface="Inter"/>
              </a:rPr>
              <a:t>• María Alejandra Suárez O.</a:t>
            </a:r>
            <a:r>
              <a:rPr dirty="0"/>
              <a:t>
</a:t>
            </a:r>
            <a:r>
              <a:rPr b="0" i="0" u="none" dirty="0">
                <a:solidFill>
                  <a:srgbClr val="F1F5F9"/>
                </a:solidFill>
                <a:latin typeface="Inter"/>
              </a:rPr>
              <a:t>• Jade Guissel Flores Coria</a:t>
            </a:r>
            <a:endParaRPr lang="es-BO" b="0" i="0" u="none" dirty="0">
              <a:solidFill>
                <a:srgbClr val="F1F5F9"/>
              </a:solidFill>
              <a:latin typeface="Inter"/>
            </a:endParaRPr>
          </a:p>
          <a:p>
            <a:pPr>
              <a:lnSpc>
                <a:spcPts val="1800"/>
              </a:lnSpc>
            </a:pPr>
            <a:r>
              <a:rPr lang="it-IT" dirty="0">
                <a:solidFill>
                  <a:srgbClr val="F1F5F9"/>
                </a:solidFill>
                <a:latin typeface="Inter"/>
              </a:rPr>
              <a:t>• Ariel Salas Tococari</a:t>
            </a:r>
            <a:r>
              <a:rPr lang="it-IT" dirty="0"/>
              <a:t>
</a:t>
            </a:r>
            <a:r>
              <a:rPr lang="it-IT" dirty="0">
                <a:solidFill>
                  <a:srgbClr val="F1F5F9"/>
                </a:solidFill>
                <a:latin typeface="Inter"/>
              </a:rPr>
              <a:t>• Renzo Molina Navia</a:t>
            </a:r>
          </a:p>
          <a:p>
            <a:pPr algn="l">
              <a:lnSpc>
                <a:spcPts val="1800"/>
              </a:lnSpc>
            </a:pPr>
            <a:endParaRPr sz="1125" b="0" i="0" u="none" dirty="0">
              <a:solidFill>
                <a:srgbClr val="F1F5F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16135" y="5866696"/>
            <a:ext cx="180318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Inter"/>
              </a:rPr>
              <a:t>DOCENTE &amp; FECHA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6135" y="6085771"/>
            <a:ext cx="367517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38BDF8"/>
                </a:solidFill>
                <a:latin typeface="Inter"/>
              </a:rPr>
              <a:t>M.Sc. Ing. Jimmy N. Requena Llorentty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6135" y="6304846"/>
            <a:ext cx="368863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94A3B8"/>
                </a:solidFill>
                <a:latin typeface="Inter"/>
              </a:rPr>
              <a:t>Santa Cruz de la Sierra — Octubre 2026</a:t>
            </a:r>
          </a:p>
        </p:txBody>
      </p:sp>
      <p:pic>
        <p:nvPicPr>
          <p:cNvPr id="13" name="Imagen 12" descr="UPDS - Universidad Privada Domingo Savio">
            <a:extLst>
              <a:ext uri="{FF2B5EF4-FFF2-40B4-BE49-F238E27FC236}">
                <a16:creationId xmlns:a16="http://schemas.microsoft.com/office/drawing/2014/main" id="{CA74FA38-7470-18E4-22C4-047DA8C9B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44" y="5535126"/>
            <a:ext cx="1227696" cy="12192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9073870-852B-772A-887E-47D060048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924" y="1872842"/>
            <a:ext cx="3942886" cy="3210009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78E21E9B-77AA-8A36-082E-50A842D9A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268" y="2030079"/>
            <a:ext cx="1803186" cy="1296337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4233" y="1069627"/>
            <a:ext cx="10972800" cy="1209675"/>
          </a:xfrm>
          <a:prstGeom prst="roundRect">
            <a:avLst>
              <a:gd name="adj" fmla="val 9448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4233" y="3418259"/>
            <a:ext cx="3530649" cy="1438275"/>
          </a:xfrm>
          <a:prstGeom prst="roundRect">
            <a:avLst>
              <a:gd name="adj" fmla="val 79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75382" y="3418259"/>
            <a:ext cx="3530649" cy="1438275"/>
          </a:xfrm>
          <a:prstGeom prst="roundRect">
            <a:avLst>
              <a:gd name="adj" fmla="val 79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896532" y="3418259"/>
            <a:ext cx="3530649" cy="1438275"/>
          </a:xfrm>
          <a:prstGeom prst="roundRect">
            <a:avLst>
              <a:gd name="adj" fmla="val 79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58" y="3656384"/>
            <a:ext cx="25717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507" y="3656384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980" y="3621914"/>
            <a:ext cx="20002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381000"/>
            <a:ext cx="259442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284C7"/>
                </a:solidFill>
                <a:latin typeface="Inter"/>
              </a:rPr>
              <a:t>PROPÓSITO DEL PROYECTO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00075"/>
            <a:ext cx="1880643" cy="3013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BO" b="1" i="0" u="none" dirty="0">
                <a:solidFill>
                  <a:srgbClr val="0F172A"/>
                </a:solidFill>
                <a:latin typeface="Space Grotesk"/>
              </a:rPr>
              <a:t>OBJETIVO GENERAL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79302"/>
            <a:ext cx="112776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OBJETIVO GENERAL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033" y="1517302"/>
            <a:ext cx="104584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i="0" u="none" dirty="0" err="1">
                <a:solidFill>
                  <a:srgbClr val="FFFFFF"/>
                </a:solidFill>
                <a:latin typeface="Inter"/>
              </a:rPr>
              <a:t>Migrar</a:t>
            </a:r>
            <a:r>
              <a:rPr b="0" i="0" u="none" dirty="0">
                <a:solidFill>
                  <a:srgbClr val="FFFFFF"/>
                </a:solidFill>
                <a:latin typeface="Inter"/>
              </a:rPr>
              <a:t> la </a:t>
            </a:r>
            <a:r>
              <a:rPr b="0" i="0" u="none" dirty="0" err="1">
                <a:solidFill>
                  <a:srgbClr val="FFFFFF"/>
                </a:solidFill>
                <a:latin typeface="Inter"/>
              </a:rPr>
              <a:t>aplicación</a:t>
            </a:r>
            <a:r>
              <a:rPr b="0" i="0" u="none" dirty="0">
                <a:solidFill>
                  <a:srgbClr val="FFFFFF"/>
                </a:solidFill>
                <a:latin typeface="Inter"/>
              </a:rPr>
              <a:t> de </a:t>
            </a:r>
            <a:r>
              <a:rPr b="0" i="0" u="none" dirty="0" err="1">
                <a:solidFill>
                  <a:srgbClr val="FFFFFF"/>
                </a:solidFill>
                <a:latin typeface="Inter"/>
              </a:rPr>
              <a:t>catálogo</a:t>
            </a:r>
            <a:r>
              <a:rPr b="0" i="0" u="none" dirty="0">
                <a:solidFill>
                  <a:srgbClr val="FFFFFF"/>
                </a:solidFill>
                <a:latin typeface="Inter"/>
              </a:rPr>
              <a:t> a MySQL y </a:t>
            </a:r>
            <a:r>
              <a:rPr b="0" i="0" u="none" dirty="0" err="1">
                <a:solidFill>
                  <a:srgbClr val="FFFFFF"/>
                </a:solidFill>
                <a:latin typeface="Inter"/>
              </a:rPr>
              <a:t>completar</a:t>
            </a:r>
            <a:r>
              <a:rPr b="0" i="0" u="none" dirty="0">
                <a:solidFill>
                  <a:srgbClr val="FFFFFF"/>
                </a:solidFill>
                <a:latin typeface="Inter"/>
              </a:rPr>
              <a:t> el CRUD de </a:t>
            </a:r>
            <a:r>
              <a:rPr b="0" i="0" u="none" dirty="0" err="1">
                <a:solidFill>
                  <a:srgbClr val="FFFFFF"/>
                </a:solidFill>
                <a:latin typeface="Inter"/>
              </a:rPr>
              <a:t>productos</a:t>
            </a:r>
            <a:r>
              <a:rPr b="0" i="0" u="none" dirty="0">
                <a:solidFill>
                  <a:srgbClr val="FFFFFF"/>
                </a:solidFill>
                <a:latin typeface="Inter"/>
              </a:rPr>
              <a:t> y </a:t>
            </a:r>
            <a:r>
              <a:rPr b="0" i="0" u="none" dirty="0" err="1">
                <a:solidFill>
                  <a:srgbClr val="FFFFFF"/>
                </a:solidFill>
                <a:latin typeface="Inter"/>
              </a:rPr>
              <a:t>socios</a:t>
            </a:r>
            <a:r>
              <a:rPr b="0" i="0" u="none" dirty="0">
                <a:solidFill>
                  <a:srgbClr val="FFFFFF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FFFFFF"/>
                </a:solidFill>
                <a:latin typeface="Inter"/>
              </a:rPr>
              <a:t>mediante</a:t>
            </a:r>
            <a:r>
              <a:rPr b="0" i="0" u="none" dirty="0">
                <a:solidFill>
                  <a:srgbClr val="FFFFFF"/>
                </a:solidFill>
                <a:latin typeface="Inter"/>
              </a:rPr>
              <a:t> PDO y </a:t>
            </a:r>
            <a:r>
              <a:rPr b="0" i="0" u="none" dirty="0" err="1">
                <a:solidFill>
                  <a:srgbClr val="FFFFFF"/>
                </a:solidFill>
                <a:latin typeface="Inter"/>
              </a:rPr>
              <a:t>consultas</a:t>
            </a:r>
            <a:r>
              <a:rPr b="0" i="0" u="none" dirty="0">
                <a:solidFill>
                  <a:srgbClr val="FFFFFF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FFFFFF"/>
                </a:solidFill>
                <a:latin typeface="Inter"/>
              </a:rPr>
              <a:t>preparadas</a:t>
            </a:r>
            <a:r>
              <a:rPr b="0" i="0" u="none" dirty="0">
                <a:solidFill>
                  <a:srgbClr val="FFFFFF"/>
                </a:solidFill>
                <a:latin typeface="Inter"/>
              </a:rPr>
              <a:t>, </a:t>
            </a:r>
            <a:r>
              <a:rPr b="0" i="0" u="none" dirty="0" err="1">
                <a:solidFill>
                  <a:srgbClr val="FFFFFF"/>
                </a:solidFill>
                <a:latin typeface="Inter"/>
              </a:rPr>
              <a:t>implementando</a:t>
            </a:r>
            <a:r>
              <a:rPr b="0" i="0" u="none" dirty="0">
                <a:solidFill>
                  <a:srgbClr val="FFFFFF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FFFFFF"/>
                </a:solidFill>
                <a:latin typeface="Inter"/>
              </a:rPr>
              <a:t>relaciones</a:t>
            </a:r>
            <a:r>
              <a:rPr b="0" i="0" u="none" dirty="0">
                <a:solidFill>
                  <a:srgbClr val="FFFFFF"/>
                </a:solidFill>
                <a:latin typeface="Inter"/>
              </a:rPr>
              <a:t>, </a:t>
            </a:r>
            <a:r>
              <a:rPr b="0" i="0" u="none" dirty="0" err="1">
                <a:solidFill>
                  <a:srgbClr val="FFFFFF"/>
                </a:solidFill>
                <a:latin typeface="Inter"/>
              </a:rPr>
              <a:t>validación</a:t>
            </a:r>
            <a:r>
              <a:rPr b="0" i="0" u="none" dirty="0">
                <a:solidFill>
                  <a:srgbClr val="FFFFFF"/>
                </a:solidFill>
                <a:latin typeface="Inter"/>
              </a:rPr>
              <a:t>, </a:t>
            </a:r>
            <a:r>
              <a:rPr b="0" i="0" u="none" dirty="0" err="1">
                <a:solidFill>
                  <a:srgbClr val="FFFFFF"/>
                </a:solidFill>
                <a:latin typeface="Inter"/>
              </a:rPr>
              <a:t>paginación</a:t>
            </a:r>
            <a:r>
              <a:rPr b="0" i="0" u="none" dirty="0">
                <a:solidFill>
                  <a:srgbClr val="FFFFFF"/>
                </a:solidFill>
                <a:latin typeface="Inter"/>
              </a:rPr>
              <a:t> y </a:t>
            </a:r>
            <a:r>
              <a:rPr b="0" i="0" u="none" dirty="0" err="1">
                <a:solidFill>
                  <a:srgbClr val="FFFFFF"/>
                </a:solidFill>
                <a:latin typeface="Inter"/>
              </a:rPr>
              <a:t>verificación</a:t>
            </a:r>
            <a:r>
              <a:rPr b="0" i="0" u="none" dirty="0">
                <a:solidFill>
                  <a:srgbClr val="FFFFFF"/>
                </a:solidFill>
                <a:latin typeface="Inter"/>
              </a:rPr>
              <a:t> de </a:t>
            </a:r>
            <a:r>
              <a:rPr b="0" i="0" u="none" dirty="0" err="1">
                <a:solidFill>
                  <a:srgbClr val="FFFFFF"/>
                </a:solidFill>
                <a:latin typeface="Inter"/>
              </a:rPr>
              <a:t>seguridad</a:t>
            </a:r>
            <a:r>
              <a:rPr b="0" i="0" u="none" dirty="0">
                <a:solidFill>
                  <a:srgbClr val="FFFFFF"/>
                </a:solidFill>
                <a:latin typeface="Inte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733" y="3597715"/>
            <a:ext cx="190956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Space Grotesk"/>
              </a:rPr>
              <a:t>1. </a:t>
            </a:r>
            <a:r>
              <a:rPr b="1" i="0" u="none" dirty="0" err="1">
                <a:solidFill>
                  <a:srgbClr val="0F172A"/>
                </a:solidFill>
                <a:latin typeface="Space Grotesk"/>
              </a:rPr>
              <a:t>Estructura</a:t>
            </a:r>
            <a:r>
              <a:rPr b="1" i="0" u="none" dirty="0">
                <a:solidFill>
                  <a:srgbClr val="0F172A"/>
                </a:solidFill>
                <a:latin typeface="Space Grotesk"/>
              </a:rPr>
              <a:t> &amp; POO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5733" y="3892990"/>
            <a:ext cx="3149649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64748B"/>
                </a:solidFill>
                <a:latin typeface="Inter"/>
              </a:rPr>
              <a:t>Organización modular con Composer/PSR-4, </a:t>
            </a:r>
            <a:r>
              <a:rPr b="0" i="0" u="none" dirty="0" err="1">
                <a:solidFill>
                  <a:srgbClr val="64748B"/>
                </a:solidFill>
                <a:latin typeface="Inter"/>
              </a:rPr>
              <a:t>herencia</a:t>
            </a:r>
            <a:r>
              <a:rPr b="0" i="0" u="none" dirty="0">
                <a:solidFill>
                  <a:srgbClr val="64748B"/>
                </a:solidFill>
                <a:latin typeface="Inter"/>
              </a:rPr>
              <a:t>, interfaces y traits.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6883" y="3597715"/>
            <a:ext cx="194444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Space Grotesk"/>
              </a:rPr>
              <a:t>2. </a:t>
            </a:r>
            <a:r>
              <a:rPr b="1" i="0" u="none" dirty="0" err="1">
                <a:solidFill>
                  <a:srgbClr val="0F172A"/>
                </a:solidFill>
                <a:latin typeface="Space Grotesk"/>
              </a:rPr>
              <a:t>Arquitectura</a:t>
            </a:r>
            <a:r>
              <a:rPr b="1" i="0" u="none" dirty="0">
                <a:solidFill>
                  <a:srgbClr val="0F172A"/>
                </a:solidFill>
                <a:latin typeface="Space Grotesk"/>
              </a:rPr>
              <a:t> MVC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245" y="3861794"/>
            <a:ext cx="3149649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64748B"/>
                </a:solidFill>
                <a:latin typeface="Inter"/>
              </a:rPr>
              <a:t>Centralización con Front Controller, enrutamiento estricto y plantillas seguras.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7120" y="3590331"/>
            <a:ext cx="39019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Space Grotesk"/>
              </a:rPr>
              <a:t>3. Capa de Datos PDO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7120" y="3861794"/>
            <a:ext cx="3149649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64748B"/>
                </a:solidFill>
                <a:latin typeface="Inter"/>
              </a:rPr>
              <a:t>Modelado MySQL, repositorio de datos, aislamiento DSN y resistencia a SQLi.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90BA3F0D-A60B-260A-86DC-A07E1DF1201A}"/>
              </a:ext>
            </a:extLst>
          </p:cNvPr>
          <p:cNvSpPr txBox="1"/>
          <p:nvPr/>
        </p:nvSpPr>
        <p:spPr>
          <a:xfrm>
            <a:off x="609599" y="2787826"/>
            <a:ext cx="1768241" cy="3013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BO" b="1" i="0" u="none" dirty="0">
                <a:solidFill>
                  <a:srgbClr val="0F172A"/>
                </a:solidFill>
                <a:latin typeface="Space Grotesk"/>
              </a:rPr>
              <a:t>ALCANCE TÉCNICO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609600" y="1741140"/>
            <a:ext cx="5860405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6300" y="2236440"/>
            <a:ext cx="545083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334155"/>
                </a:solidFill>
                <a:latin typeface="Inter"/>
              </a:rPr>
              <a:t>Espacio de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nombres</a:t>
            </a:r>
            <a:r>
              <a:rPr lang="es-BO" b="0" i="0" u="none" dirty="0">
                <a:solidFill>
                  <a:srgbClr val="334155"/>
                </a:solidFill>
                <a:latin typeface="Inter"/>
              </a:rPr>
              <a:t>        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s-BO" b="0" i="0" u="none" dirty="0">
                <a:solidFill>
                  <a:srgbClr val="334155"/>
                </a:solidFill>
                <a:latin typeface="Inter"/>
              </a:rPr>
              <a:t>         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mapeado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al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directorio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.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Eliminación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total de require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manuales</a:t>
            </a:r>
            <a:r>
              <a:rPr sz="105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2312640"/>
            <a:ext cx="952500" cy="209550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09600" y="2969865"/>
            <a:ext cx="5860405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198590"/>
            <a:ext cx="5860405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807940"/>
            <a:ext cx="5860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1741140"/>
            <a:ext cx="5860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1741140"/>
            <a:ext cx="38100" cy="1076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60480" y="1741140"/>
            <a:ext cx="9525" cy="1076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4036665"/>
            <a:ext cx="5860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600" y="2969865"/>
            <a:ext cx="5860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2969865"/>
            <a:ext cx="38100" cy="1076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60480" y="2969865"/>
            <a:ext cx="9525" cy="1076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5255865"/>
            <a:ext cx="5860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4198590"/>
            <a:ext cx="5860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9600" y="4198590"/>
            <a:ext cx="38100" cy="10668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60480" y="4198590"/>
            <a:ext cx="9525" cy="10668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812780" y="2274540"/>
            <a:ext cx="419100" cy="209550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9600" y="381000"/>
            <a:ext cx="68341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LABORATORIO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00075"/>
            <a:ext cx="5489901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MX" sz="2100" b="1" i="0" u="none" dirty="0">
                <a:solidFill>
                  <a:srgbClr val="0F172A"/>
                </a:solidFill>
                <a:latin typeface="Space Grotesk"/>
              </a:rPr>
              <a:t>PROGRAMACIÓN ORIENTADA A OBJETOS Y PSR-4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" y="1979265"/>
            <a:ext cx="702919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  <a:latin typeface="Space Grotesk"/>
              </a:rPr>
              <a:t>Carga Autoloading PSR-4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3055590"/>
            <a:ext cx="702919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0284C7"/>
                </a:solidFill>
                <a:latin typeface="Space Grotesk"/>
              </a:rPr>
              <a:t>Jerarquía</a:t>
            </a:r>
            <a:r>
              <a:rPr sz="1200" b="1" i="0" u="none" dirty="0">
                <a:solidFill>
                  <a:srgbClr val="0284C7"/>
                </a:solidFill>
                <a:latin typeface="Space Grotesk"/>
              </a:rPr>
              <a:t> de </a:t>
            </a:r>
            <a:r>
              <a:rPr sz="1200" b="1" i="0" u="none" dirty="0" err="1">
                <a:solidFill>
                  <a:srgbClr val="0284C7"/>
                </a:solidFill>
                <a:latin typeface="Space Grotesk"/>
              </a:rPr>
              <a:t>Clases</a:t>
            </a:r>
            <a:r>
              <a:rPr sz="1200" b="1" i="0" u="none" dirty="0">
                <a:solidFill>
                  <a:srgbClr val="0284C7"/>
                </a:solidFill>
                <a:latin typeface="Space Grotesk"/>
              </a:rPr>
              <a:t> &amp; </a:t>
            </a:r>
            <a:r>
              <a:rPr sz="1200" b="1" i="0" u="none" dirty="0" err="1">
                <a:solidFill>
                  <a:srgbClr val="0284C7"/>
                </a:solidFill>
                <a:latin typeface="Space Grotesk"/>
              </a:rPr>
              <a:t>Polimorfismo</a:t>
            </a:r>
            <a:endParaRPr sz="1200" b="1" i="0" u="none" dirty="0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81049" y="3217515"/>
            <a:ext cx="5688955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 err="1">
                <a:solidFill>
                  <a:srgbClr val="334155"/>
                </a:solidFill>
                <a:latin typeface="Inter"/>
              </a:rPr>
              <a:t>Articulo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(Abstracta)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implementada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por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Producto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y Servicio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mediante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la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interfaz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Vendible.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Cálculo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precios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dinámico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según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reglas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300" y="4436715"/>
            <a:ext cx="702919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Space Grotesk"/>
              </a:rPr>
              <a:t>Traits &amp; Enums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012" y="4597866"/>
            <a:ext cx="545083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334155"/>
                </a:solidFill>
                <a:latin typeface="Inter"/>
              </a:rPr>
              <a:t>Trait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ConBolivianos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para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formato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monetario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reutilizable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y Enum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Categoria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para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tipado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Inter"/>
              </a:rPr>
              <a:t>estricto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2162" y="2284065"/>
            <a:ext cx="4000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BO" sz="1400" b="0" i="0" u="none" dirty="0">
                <a:solidFill>
                  <a:srgbClr val="334155"/>
                </a:solidFill>
                <a:latin typeface="JetBrains Mono"/>
              </a:rPr>
              <a:t>s</a:t>
            </a:r>
            <a:r>
              <a:rPr sz="1400" b="0" i="0" u="none" dirty="0" err="1">
                <a:solidFill>
                  <a:srgbClr val="334155"/>
                </a:solidFill>
                <a:latin typeface="JetBrains Mono"/>
              </a:rPr>
              <a:t>rc</a:t>
            </a:r>
            <a:r>
              <a:rPr sz="1400" b="0" i="0" u="none" dirty="0">
                <a:solidFill>
                  <a:srgbClr val="334155"/>
                </a:solidFill>
                <a:latin typeface="JetBrains Mono"/>
              </a:rPr>
              <a:t>/</a:t>
            </a:r>
          </a:p>
        </p:txBody>
      </p:sp>
      <p:sp>
        <p:nvSpPr>
          <p:cNvPr id="38" name="TextBox 34">
            <a:extLst>
              <a:ext uri="{FF2B5EF4-FFF2-40B4-BE49-F238E27FC236}">
                <a16:creationId xmlns:a16="http://schemas.microsoft.com/office/drawing/2014/main" id="{087A161F-242E-3B8F-3265-83F81381B33C}"/>
              </a:ext>
            </a:extLst>
          </p:cNvPr>
          <p:cNvSpPr txBox="1"/>
          <p:nvPr/>
        </p:nvSpPr>
        <p:spPr>
          <a:xfrm>
            <a:off x="2841806" y="2272605"/>
            <a:ext cx="82658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 dirty="0" err="1">
                <a:solidFill>
                  <a:srgbClr val="334155"/>
                </a:solidFill>
                <a:latin typeface="JetBrains Mono"/>
              </a:rPr>
              <a:t>Apicultores</a:t>
            </a:r>
            <a:endParaRPr sz="1400" b="0" i="0" u="none" dirty="0">
              <a:solidFill>
                <a:srgbClr val="334155"/>
              </a:solidFill>
              <a:latin typeface="JetBrains Mono"/>
            </a:endParaRPr>
          </a:p>
        </p:txBody>
      </p:sp>
      <p:pic>
        <p:nvPicPr>
          <p:cNvPr id="39" name="Picture 1">
            <a:extLst>
              <a:ext uri="{FF2B5EF4-FFF2-40B4-BE49-F238E27FC236}">
                <a16:creationId xmlns:a16="http://schemas.microsoft.com/office/drawing/2014/main" id="{C144C8D0-540E-0123-87A5-33B813204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345" y="1789421"/>
            <a:ext cx="5082090" cy="319215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3565177"/>
            <a:ext cx="10972800" cy="1095375"/>
          </a:xfrm>
          <a:prstGeom prst="roundRect">
            <a:avLst>
              <a:gd name="adj" fmla="val 1043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Rounded Rectangle 3"/>
          <p:cNvSpPr/>
          <p:nvPr/>
        </p:nvSpPr>
        <p:spPr>
          <a:xfrm>
            <a:off x="609526" y="1403003"/>
            <a:ext cx="3530649" cy="1771650"/>
          </a:xfrm>
          <a:prstGeom prst="roundRect">
            <a:avLst>
              <a:gd name="adj" fmla="val 6451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30675" y="1403003"/>
            <a:ext cx="3530649" cy="1771650"/>
          </a:xfrm>
          <a:prstGeom prst="roundRect">
            <a:avLst>
              <a:gd name="adj" fmla="val 6451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825" y="1403003"/>
            <a:ext cx="3530649" cy="1771650"/>
          </a:xfrm>
          <a:prstGeom prst="roundRect">
            <a:avLst>
              <a:gd name="adj" fmla="val 6451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176" y="1641128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326" y="1641128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475" y="1641128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5238" y="1774478"/>
            <a:ext cx="2190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863" y="1774478"/>
            <a:ext cx="23812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1825" y="1774478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381000"/>
            <a:ext cx="7000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LABORATORIO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00075"/>
            <a:ext cx="6050631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BO" sz="2100" b="1" i="0" u="none" dirty="0">
                <a:solidFill>
                  <a:srgbClr val="0F172A"/>
                </a:solidFill>
                <a:latin typeface="Space Grotesk"/>
              </a:rPr>
              <a:t>FRONT CONTROLLER, ROUTER Y MANEJO DE ERRORES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3803302"/>
            <a:ext cx="280140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84C7"/>
                </a:solidFill>
                <a:latin typeface="Space Grotesk"/>
              </a:rPr>
              <a:t>Jerarquía de Excepciones del Dominio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4050952"/>
            <a:ext cx="105918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400" b="0" i="0" u="none">
                <a:solidFill>
                  <a:srgbClr val="334155"/>
                </a:solidFill>
                <a:latin typeface="Inter"/>
              </a:rPr>
              <a:t>Excepciones personalizadas (NoEncontrado [404], Conflicto [409], DatosInvalidos [422]) heredan de ErrorAplicacion. Errores críticos (500) se registran en datos/errores.log devolviendo solo un código de referencia al cliente.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64358" y="2212628"/>
            <a:ext cx="102098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Space Grotesk"/>
              </a:rPr>
              <a:t>Front 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2469803"/>
            <a:ext cx="31202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64748B"/>
                </a:solidFill>
                <a:latin typeface="Inter"/>
              </a:rPr>
              <a:t>Punto 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único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 de entrada 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en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 public/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index.php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. 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Aísla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 la 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lógica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 interna del 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acceso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público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 web.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1420" y="2212628"/>
            <a:ext cx="90915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Space Grotesk"/>
              </a:rPr>
              <a:t>Router Tipado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4350" y="2469803"/>
            <a:ext cx="329012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Mapea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rutas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 y 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verbos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 HTTP. 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Responde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 con HTTP 404 (No 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Encontrado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) y HTTP 405 (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Método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 no 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permitido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2780" y="2212628"/>
            <a:ext cx="124873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Space Grotesk"/>
              </a:rPr>
              <a:t>Seguridad en Vistas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5500" y="2469803"/>
            <a:ext cx="324402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64748B"/>
                </a:solidFill>
                <a:latin typeface="Inter"/>
              </a:rPr>
              <a:t>Escape 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automático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 de 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datos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mediante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htmlspecialchars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 para 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mitigar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Inter"/>
              </a:rPr>
              <a:t>vulnerabilidades</a:t>
            </a:r>
            <a:r>
              <a:rPr sz="1200" b="0" i="0" u="none" dirty="0">
                <a:solidFill>
                  <a:srgbClr val="64748B"/>
                </a:solidFill>
                <a:latin typeface="Inter"/>
              </a:rPr>
              <a:t> XSS.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609600" y="1353441"/>
            <a:ext cx="5486400" cy="267471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95301" y="4266276"/>
            <a:ext cx="5486400" cy="1503169"/>
          </a:xfrm>
          <a:prstGeom prst="roundRect">
            <a:avLst>
              <a:gd name="adj" fmla="val 9885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847724" y="1886841"/>
            <a:ext cx="5000017" cy="1139228"/>
          </a:xfrm>
          <a:prstGeom prst="roundRect">
            <a:avLst>
              <a:gd name="adj" fmla="val 652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TextBox 9"/>
          <p:cNvSpPr txBox="1"/>
          <p:nvPr/>
        </p:nvSpPr>
        <p:spPr>
          <a:xfrm>
            <a:off x="609600" y="381000"/>
            <a:ext cx="56435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LABORATORIO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0075"/>
            <a:ext cx="4480907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MX" sz="2100" b="1" i="0" u="none" dirty="0">
                <a:solidFill>
                  <a:srgbClr val="0F172A"/>
                </a:solidFill>
                <a:latin typeface="Space Grotesk"/>
              </a:rPr>
              <a:t>MIGRACIÓN A MYSQL Y CONEXIÓN PDO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1591566"/>
            <a:ext cx="64258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Space Grotesk"/>
              </a:rPr>
              <a:t>Modelo Relacional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2001141"/>
            <a:ext cx="4863830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0F172A"/>
                </a:solidFill>
                <a:latin typeface="JetBrains Mono"/>
              </a:rPr>
              <a:t>socios</a:t>
            </a:r>
            <a:r>
              <a:rPr sz="1400" b="0" i="0" u="none" dirty="0">
                <a:solidFill>
                  <a:srgbClr val="0F172A"/>
                </a:solidFill>
                <a:latin typeface="JetBrains Mono"/>
              </a:rPr>
              <a:t> (id, </a:t>
            </a:r>
            <a:r>
              <a:rPr sz="1400" b="0" i="0" u="none" dirty="0" err="1">
                <a:solidFill>
                  <a:srgbClr val="0F172A"/>
                </a:solidFill>
                <a:latin typeface="JetBrains Mono"/>
              </a:rPr>
              <a:t>nombre</a:t>
            </a:r>
            <a:r>
              <a:rPr sz="1400" b="0" i="0" u="none" dirty="0">
                <a:solidFill>
                  <a:srgbClr val="0F172A"/>
                </a:solidFill>
                <a:latin typeface="JetBrains Mono"/>
              </a:rPr>
              <a:t>, </a:t>
            </a:r>
            <a:r>
              <a:rPr sz="1400" b="0" i="0" u="none" dirty="0" err="1">
                <a:solidFill>
                  <a:srgbClr val="0F172A"/>
                </a:solidFill>
                <a:latin typeface="JetBrains Mono"/>
              </a:rPr>
              <a:t>localidad</a:t>
            </a:r>
            <a:r>
              <a:rPr sz="1400" b="0" i="0" u="none" dirty="0">
                <a:solidFill>
                  <a:srgbClr val="0F172A"/>
                </a:solidFill>
                <a:latin typeface="JetBrains Mono"/>
              </a:rPr>
              <a:t>, </a:t>
            </a:r>
            <a:r>
              <a:rPr sz="1400" b="0" i="0" u="none" dirty="0" err="1">
                <a:solidFill>
                  <a:srgbClr val="0F172A"/>
                </a:solidFill>
                <a:latin typeface="JetBrains Mono"/>
              </a:rPr>
              <a:t>telefono</a:t>
            </a:r>
            <a:r>
              <a:rPr sz="1400" b="0" i="0" u="none" dirty="0">
                <a:solidFill>
                  <a:srgbClr val="0F172A"/>
                </a:solidFill>
                <a:latin typeface="JetBrains Mono"/>
              </a:rPr>
              <a:t>)</a:t>
            </a:r>
            <a:r>
              <a:rPr sz="1400" dirty="0"/>
              <a:t>
</a:t>
            </a:r>
            <a:r>
              <a:rPr sz="1400" b="0" i="0" u="none" dirty="0">
                <a:solidFill>
                  <a:srgbClr val="0F172A"/>
                </a:solidFill>
                <a:latin typeface="JetBrains Mono"/>
              </a:rPr>
              <a:t>   ▲</a:t>
            </a:r>
            <a:r>
              <a:rPr sz="1400" dirty="0"/>
              <a:t>
</a:t>
            </a:r>
            <a:r>
              <a:rPr sz="1400" b="0" i="0" u="none" dirty="0">
                <a:solidFill>
                  <a:srgbClr val="0F172A"/>
                </a:solidFill>
                <a:latin typeface="JetBrains Mono"/>
              </a:rPr>
              <a:t>   └── </a:t>
            </a:r>
            <a:r>
              <a:rPr sz="1400" b="1" i="0" u="none" dirty="0">
                <a:solidFill>
                  <a:srgbClr val="0F172A"/>
                </a:solidFill>
                <a:latin typeface="JetBrains Mono"/>
              </a:rPr>
              <a:t>1 : N</a:t>
            </a:r>
            <a:r>
              <a:rPr sz="1400" b="0" i="0" u="none" dirty="0">
                <a:solidFill>
                  <a:srgbClr val="0F172A"/>
                </a:solidFill>
                <a:latin typeface="JetBrains Mono"/>
              </a:rPr>
              <a:t> ── </a:t>
            </a:r>
            <a:r>
              <a:rPr sz="1400" b="1" i="0" u="none" dirty="0" err="1">
                <a:solidFill>
                  <a:srgbClr val="0F172A"/>
                </a:solidFill>
                <a:latin typeface="JetBrains Mono"/>
              </a:rPr>
              <a:t>productos</a:t>
            </a:r>
            <a:r>
              <a:rPr sz="1400" b="0" i="0" u="none" dirty="0">
                <a:solidFill>
                  <a:srgbClr val="0F172A"/>
                </a:solidFill>
                <a:latin typeface="JetBrains Mono"/>
              </a:rPr>
              <a:t> (id, </a:t>
            </a:r>
            <a:r>
              <a:rPr sz="1400" b="0" i="0" u="none" dirty="0" err="1">
                <a:solidFill>
                  <a:srgbClr val="0F172A"/>
                </a:solidFill>
                <a:latin typeface="JetBrains Mono"/>
              </a:rPr>
              <a:t>codigo</a:t>
            </a:r>
            <a:r>
              <a:rPr sz="1400" b="0" i="0" u="none" dirty="0">
                <a:solidFill>
                  <a:srgbClr val="0F172A"/>
                </a:solidFill>
                <a:latin typeface="JetBrains Mono"/>
              </a:rPr>
              <a:t>, </a:t>
            </a:r>
            <a:r>
              <a:rPr sz="1400" b="0" i="0" u="none" dirty="0" err="1">
                <a:solidFill>
                  <a:srgbClr val="0F172A"/>
                </a:solidFill>
                <a:latin typeface="JetBrains Mono"/>
              </a:rPr>
              <a:t>nombre</a:t>
            </a:r>
            <a:r>
              <a:rPr sz="1400" b="0" i="0" u="none" dirty="0">
                <a:solidFill>
                  <a:srgbClr val="0F172A"/>
                </a:solidFill>
                <a:latin typeface="JetBrains Mono"/>
              </a:rPr>
              <a:t>, </a:t>
            </a:r>
            <a:r>
              <a:rPr sz="1400" b="0" i="0" u="none" dirty="0" err="1">
                <a:solidFill>
                  <a:srgbClr val="0F172A"/>
                </a:solidFill>
                <a:latin typeface="JetBrains Mono"/>
              </a:rPr>
              <a:t>categoria</a:t>
            </a:r>
            <a:r>
              <a:rPr sz="1400" b="0" i="0" u="none" dirty="0">
                <a:solidFill>
                  <a:srgbClr val="0F172A"/>
                </a:solidFill>
                <a:latin typeface="JetBrains Mono"/>
              </a:rPr>
              <a:t>, </a:t>
            </a:r>
            <a:r>
              <a:rPr sz="1400" b="0" i="0" u="none" dirty="0" err="1">
                <a:solidFill>
                  <a:srgbClr val="0F172A"/>
                </a:solidFill>
                <a:latin typeface="JetBrains Mono"/>
              </a:rPr>
              <a:t>precio</a:t>
            </a:r>
            <a:r>
              <a:rPr sz="1400" b="0" i="0" u="none" dirty="0">
                <a:solidFill>
                  <a:srgbClr val="0F172A"/>
                </a:solidFill>
                <a:latin typeface="JetBrains Mono"/>
              </a:rPr>
              <a:t>, stock, </a:t>
            </a:r>
            <a:r>
              <a:rPr sz="1400" b="0" i="0" u="none" dirty="0" err="1">
                <a:solidFill>
                  <a:srgbClr val="0F172A"/>
                </a:solidFill>
                <a:latin typeface="JetBrains Mono"/>
              </a:rPr>
              <a:t>socio_id</a:t>
            </a:r>
            <a:r>
              <a:rPr sz="1400" b="0" i="0" u="none" dirty="0">
                <a:solidFill>
                  <a:srgbClr val="0F172A"/>
                </a:solidFill>
                <a:latin typeface="JetBrains Mono"/>
              </a:rPr>
              <a:t>)</a:t>
            </a:r>
            <a:endParaRPr lang="es-BO" sz="1400" b="0" i="0" u="none" dirty="0">
              <a:solidFill>
                <a:srgbClr val="0F172A"/>
              </a:solidFill>
              <a:latin typeface="JetBrains Mono"/>
            </a:endParaRPr>
          </a:p>
          <a:p>
            <a:pPr algn="l"/>
            <a:endParaRPr sz="1400" b="0" i="0" u="none" dirty="0">
              <a:solidFill>
                <a:srgbClr val="0F172A"/>
              </a:solidFill>
              <a:latin typeface="JetBrains Mon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544" y="3079315"/>
            <a:ext cx="509729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 dirty="0">
                <a:solidFill>
                  <a:srgbClr val="64748B"/>
                </a:solidFill>
                <a:latin typeface="Inter"/>
              </a:rPr>
              <a:t>Clave </a:t>
            </a:r>
            <a:r>
              <a:rPr sz="1400" b="0" i="0" u="none" dirty="0" err="1">
                <a:solidFill>
                  <a:srgbClr val="64748B"/>
                </a:solidFill>
                <a:latin typeface="Inter"/>
              </a:rPr>
              <a:t>foránea</a:t>
            </a:r>
            <a:r>
              <a:rPr sz="14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64748B"/>
                </a:solidFill>
                <a:latin typeface="Inter"/>
              </a:rPr>
              <a:t>socio_id</a:t>
            </a:r>
            <a:r>
              <a:rPr sz="14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64748B"/>
                </a:solidFill>
                <a:latin typeface="Inter"/>
              </a:rPr>
              <a:t>asegura</a:t>
            </a:r>
            <a:r>
              <a:rPr sz="1400" b="0" i="0" u="none" dirty="0">
                <a:solidFill>
                  <a:srgbClr val="64748B"/>
                </a:solidFill>
                <a:latin typeface="Inter"/>
              </a:rPr>
              <a:t> la </a:t>
            </a:r>
            <a:r>
              <a:rPr sz="1400" b="0" i="0" u="none" dirty="0" err="1">
                <a:solidFill>
                  <a:srgbClr val="64748B"/>
                </a:solidFill>
                <a:latin typeface="Inter"/>
              </a:rPr>
              <a:t>integridad</a:t>
            </a:r>
            <a:r>
              <a:rPr sz="14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64748B"/>
                </a:solidFill>
                <a:latin typeface="Inter"/>
              </a:rPr>
              <a:t>referencial</a:t>
            </a:r>
            <a:r>
              <a:rPr sz="1400" b="0" i="0" u="none" dirty="0">
                <a:solidFill>
                  <a:srgbClr val="64748B"/>
                </a:solidFill>
                <a:latin typeface="Inter"/>
              </a:rPr>
              <a:t> de </a:t>
            </a:r>
            <a:r>
              <a:rPr sz="1400" b="0" i="0" u="none" dirty="0" err="1">
                <a:solidFill>
                  <a:srgbClr val="64748B"/>
                </a:solidFill>
                <a:latin typeface="Inter"/>
              </a:rPr>
              <a:t>los</a:t>
            </a:r>
            <a:r>
              <a:rPr sz="14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64748B"/>
                </a:solidFill>
                <a:latin typeface="Inter"/>
              </a:rPr>
              <a:t>productores</a:t>
            </a:r>
            <a:r>
              <a:rPr sz="14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64748B"/>
                </a:solidFill>
                <a:latin typeface="Inter"/>
              </a:rPr>
              <a:t>apícolas</a:t>
            </a:r>
            <a:r>
              <a:rPr sz="1400" b="0" i="0" u="none" dirty="0">
                <a:solidFill>
                  <a:srgbClr val="64748B"/>
                </a:solidFill>
                <a:latin typeface="Inter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544" y="4679703"/>
            <a:ext cx="230864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38BDF8"/>
                </a:solidFill>
                <a:latin typeface="Inter"/>
              </a:rPr>
              <a:t>CONFIGURACIÓN SEGURA PDO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447" y="5013512"/>
            <a:ext cx="5097294" cy="505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1400" b="0" i="0" u="none" dirty="0">
                <a:solidFill>
                  <a:srgbClr val="CBD5E1"/>
                </a:solidFill>
                <a:latin typeface="JetBrains Mono"/>
              </a:rPr>
              <a:t>• DSN fuera del </a:t>
            </a:r>
            <a:r>
              <a:rPr sz="1400" b="0" i="0" u="none" dirty="0" err="1">
                <a:solidFill>
                  <a:srgbClr val="CBD5E1"/>
                </a:solidFill>
                <a:latin typeface="JetBrains Mono"/>
              </a:rPr>
              <a:t>directorio</a:t>
            </a:r>
            <a:r>
              <a:rPr sz="1400" b="0" i="0" u="none" dirty="0">
                <a:solidFill>
                  <a:srgbClr val="CBD5E1"/>
                </a:solidFill>
                <a:latin typeface="JetBrains Mono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JetBrains Mono"/>
              </a:rPr>
              <a:t>raíz</a:t>
            </a:r>
            <a:r>
              <a:rPr sz="1400" b="0" i="0" u="none" dirty="0">
                <a:solidFill>
                  <a:srgbClr val="CBD5E1"/>
                </a:solidFill>
                <a:latin typeface="JetBrains Mono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JetBrains Mono"/>
              </a:rPr>
              <a:t>público</a:t>
            </a:r>
            <a:r>
              <a:rPr sz="1400" dirty="0"/>
              <a:t>
</a:t>
            </a:r>
            <a:r>
              <a:rPr sz="1400" b="0" i="0" u="none" dirty="0">
                <a:solidFill>
                  <a:srgbClr val="CBD5E1"/>
                </a:solidFill>
                <a:latin typeface="JetBrains Mono"/>
              </a:rPr>
              <a:t> • PDO::ATTR_ERRMODE =&gt; ERRMODE_EXCEPTION</a:t>
            </a:r>
            <a:r>
              <a:rPr sz="1400" dirty="0"/>
              <a:t>
</a:t>
            </a:r>
            <a:r>
              <a:rPr sz="1400" b="0" i="0" u="none" dirty="0">
                <a:solidFill>
                  <a:srgbClr val="CBD5E1"/>
                </a:solidFill>
                <a:latin typeface="JetBrains Mono"/>
              </a:rPr>
              <a:t> • PDO::ATTR_EMULATE_PREPARES =&gt; false</a:t>
            </a:r>
          </a:p>
        </p:txBody>
      </p:sp>
      <p:pic>
        <p:nvPicPr>
          <p:cNvPr id="20" name="Picture 5">
            <a:extLst>
              <a:ext uri="{FF2B5EF4-FFF2-40B4-BE49-F238E27FC236}">
                <a16:creationId xmlns:a16="http://schemas.microsoft.com/office/drawing/2014/main" id="{D7287B52-28A1-3126-9262-E57171D9E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463" y="239016"/>
            <a:ext cx="5577840" cy="27051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1" name="Picture 6">
            <a:extLst>
              <a:ext uri="{FF2B5EF4-FFF2-40B4-BE49-F238E27FC236}">
                <a16:creationId xmlns:a16="http://schemas.microsoft.com/office/drawing/2014/main" id="{04801C2F-FE44-B618-3BF6-7B6006DE3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146" y="3182241"/>
            <a:ext cx="5577840" cy="3022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87276" y="1237640"/>
            <a:ext cx="3530649" cy="1546487"/>
          </a:xfrm>
          <a:prstGeom prst="roundRect">
            <a:avLst>
              <a:gd name="adj" fmla="val 8275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213175" y="1237640"/>
            <a:ext cx="3625899" cy="1546487"/>
          </a:xfrm>
          <a:prstGeom prst="roundRect">
            <a:avLst>
              <a:gd name="adj" fmla="val 8275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9575" y="1237640"/>
            <a:ext cx="3530650" cy="1546487"/>
          </a:xfrm>
          <a:prstGeom prst="roundRect">
            <a:avLst>
              <a:gd name="adj" fmla="val 8275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381000"/>
            <a:ext cx="6286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LABORATORIO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00075"/>
            <a:ext cx="5203797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MX" sz="2100" b="1" i="0" u="none" dirty="0">
                <a:solidFill>
                  <a:srgbClr val="0F172A"/>
                </a:solidFill>
                <a:latin typeface="Space Grotesk"/>
              </a:rPr>
              <a:t>PATRÓN REPOSITORIO, FILTROS Y PAGINACIÓN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401" y="1407645"/>
            <a:ext cx="139570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84C7"/>
                </a:solidFill>
                <a:latin typeface="Space Grotesk"/>
              </a:rPr>
              <a:t>Patrón Repositorio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401" y="1683870"/>
            <a:ext cx="3149649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Aislamiento total con ProductoRepositorioMysql y SocioRepositorio. Permite intercambiar el motor de datos sin alterar controladores.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6550" y="1407645"/>
            <a:ext cx="148662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84C7"/>
                </a:solidFill>
                <a:latin typeface="Space Grotesk"/>
              </a:rPr>
              <a:t>Paginación Eficiente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6550" y="1683870"/>
            <a:ext cx="3149649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Uso de cláusulas LIMIT y OFFSET en MySQL. Navegación fluida sobre un total de 36 productos (10 por página).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7700" y="1407645"/>
            <a:ext cx="113697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0284C7"/>
                </a:solidFill>
                <a:latin typeface="Space Grotesk"/>
              </a:rPr>
              <a:t>Filtros</a:t>
            </a:r>
            <a:r>
              <a:rPr sz="1400" b="1" i="0" u="none" dirty="0">
                <a:solidFill>
                  <a:srgbClr val="0284C7"/>
                </a:solidFill>
                <a:latin typeface="Space Grotesk"/>
              </a:rPr>
              <a:t> &amp; Orden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7700" y="1683870"/>
            <a:ext cx="3149649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334155"/>
                </a:solidFill>
                <a:latin typeface="Inter"/>
              </a:rPr>
              <a:t>Búsqueda por nombre/código, filtrado por categoría y listas permitidas (Whitelisting) para ordenamiento dinámico.</a:t>
            </a:r>
          </a:p>
        </p:txBody>
      </p:sp>
      <p:pic>
        <p:nvPicPr>
          <p:cNvPr id="25" name="Picture 8">
            <a:extLst>
              <a:ext uri="{FF2B5EF4-FFF2-40B4-BE49-F238E27FC236}">
                <a16:creationId xmlns:a16="http://schemas.microsoft.com/office/drawing/2014/main" id="{645E33A1-C3C0-192E-5695-C6379E075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0" y="4441935"/>
            <a:ext cx="3996912" cy="2194392"/>
          </a:xfrm>
          <a:prstGeom prst="rect">
            <a:avLst/>
          </a:prstGeom>
        </p:spPr>
      </p:pic>
      <p:pic>
        <p:nvPicPr>
          <p:cNvPr id="26" name="Picture 9">
            <a:extLst>
              <a:ext uri="{FF2B5EF4-FFF2-40B4-BE49-F238E27FC236}">
                <a16:creationId xmlns:a16="http://schemas.microsoft.com/office/drawing/2014/main" id="{888F1126-0416-81E0-2646-F15FAB8D0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175" y="2954132"/>
            <a:ext cx="3625900" cy="2194392"/>
          </a:xfrm>
          <a:prstGeom prst="rect">
            <a:avLst/>
          </a:prstGeom>
        </p:spPr>
      </p:pic>
      <p:pic>
        <p:nvPicPr>
          <p:cNvPr id="27" name="Picture 11">
            <a:extLst>
              <a:ext uri="{FF2B5EF4-FFF2-40B4-BE49-F238E27FC236}">
                <a16:creationId xmlns:a16="http://schemas.microsoft.com/office/drawing/2014/main" id="{9E5FDB07-3B4F-3248-DE48-2561096C9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0506" y="4600155"/>
            <a:ext cx="4136664" cy="21943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81025" y="3204071"/>
            <a:ext cx="5860405" cy="1104900"/>
          </a:xfrm>
          <a:prstGeom prst="roundRect">
            <a:avLst>
              <a:gd name="adj" fmla="val 689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/>
          <p:cNvSpPr txBox="1"/>
          <p:nvPr/>
        </p:nvSpPr>
        <p:spPr>
          <a:xfrm>
            <a:off x="609600" y="1114030"/>
            <a:ext cx="64531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SEGURIDAD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333105"/>
            <a:ext cx="5095177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MX" sz="2100" b="1" i="0" u="none" dirty="0">
                <a:solidFill>
                  <a:srgbClr val="0F172A"/>
                </a:solidFill>
                <a:latin typeface="Space Grotesk"/>
              </a:rPr>
              <a:t>PREVENCIÓN DE INYECCIÓN SQL Y EVIDENCIA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1871417"/>
            <a:ext cx="245509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0F172A"/>
                </a:solidFill>
                <a:latin typeface="Space Grotesk"/>
              </a:rPr>
              <a:t>Mecanismo</a:t>
            </a:r>
            <a:r>
              <a:rPr sz="1400" b="1" i="0" u="none" dirty="0">
                <a:solidFill>
                  <a:srgbClr val="0F172A"/>
                </a:solidFill>
                <a:latin typeface="Space Grotesk"/>
              </a:rPr>
              <a:t> de </a:t>
            </a:r>
            <a:r>
              <a:rPr sz="1400" b="1" i="0" u="none" dirty="0" err="1">
                <a:solidFill>
                  <a:srgbClr val="0F172A"/>
                </a:solidFill>
                <a:latin typeface="Space Grotesk"/>
              </a:rPr>
              <a:t>Protección</a:t>
            </a:r>
            <a:r>
              <a:rPr sz="1400" b="1" i="0" u="none" dirty="0">
                <a:solidFill>
                  <a:srgbClr val="0F172A"/>
                </a:solidFill>
                <a:latin typeface="Space Grotesk"/>
              </a:rPr>
              <a:t> Nativo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185742"/>
            <a:ext cx="5955655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0" i="0" u="none" dirty="0">
                <a:solidFill>
                  <a:srgbClr val="334155"/>
                </a:solidFill>
                <a:latin typeface="Inter"/>
              </a:rPr>
              <a:t>Las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consultas</a:t>
            </a:r>
            <a:r>
              <a:rPr sz="1600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1" i="0" u="none" dirty="0" err="1">
                <a:solidFill>
                  <a:srgbClr val="334155"/>
                </a:solidFill>
                <a:latin typeface="Inter"/>
              </a:rPr>
              <a:t>preparadas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separan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la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estructura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lógica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SQL del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contenido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los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parámetros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ingresados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por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el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usuario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. El motor de base de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datos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trata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la entrada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estrictamente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como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un </a:t>
            </a:r>
            <a:r>
              <a:rPr sz="1600" b="0" i="0" u="none" dirty="0" err="1">
                <a:solidFill>
                  <a:srgbClr val="334155"/>
                </a:solidFill>
                <a:latin typeface="Inter"/>
              </a:rPr>
              <a:t>dato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literal.</a:t>
            </a:r>
            <a:endParaRPr lang="es-BO" sz="1600" b="0" i="0" u="none" dirty="0">
              <a:solidFill>
                <a:srgbClr val="334155"/>
              </a:solidFill>
              <a:latin typeface="Inter"/>
            </a:endParaRPr>
          </a:p>
          <a:p>
            <a:pPr algn="l">
              <a:lnSpc>
                <a:spcPts val="1575"/>
              </a:lnSpc>
            </a:pPr>
            <a:endParaRPr sz="14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1999" y="3272865"/>
            <a:ext cx="5650855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75"/>
              </a:lnSpc>
            </a:pPr>
            <a:r>
              <a:rPr lang="es-BO" sz="1400" dirty="0">
                <a:solidFill>
                  <a:srgbClr val="38BDF8"/>
                </a:solidFill>
                <a:latin typeface="JetBrains Mono"/>
              </a:rPr>
              <a:t>$consulta = $</a:t>
            </a:r>
            <a:r>
              <a:rPr lang="es-BO" sz="1400" dirty="0" err="1">
                <a:solidFill>
                  <a:srgbClr val="38BDF8"/>
                </a:solidFill>
                <a:latin typeface="JetBrains Mono"/>
              </a:rPr>
              <a:t>this</a:t>
            </a:r>
            <a:r>
              <a:rPr lang="es-BO" sz="1400" dirty="0">
                <a:solidFill>
                  <a:srgbClr val="38BDF8"/>
                </a:solidFill>
                <a:latin typeface="JetBrains Mono"/>
              </a:rPr>
              <a:t>-&gt;</a:t>
            </a:r>
            <a:r>
              <a:rPr lang="es-BO" sz="1400" dirty="0" err="1">
                <a:solidFill>
                  <a:srgbClr val="38BDF8"/>
                </a:solidFill>
                <a:latin typeface="JetBrains Mono"/>
              </a:rPr>
              <a:t>bd</a:t>
            </a:r>
            <a:r>
              <a:rPr lang="es-BO" sz="1400" dirty="0">
                <a:solidFill>
                  <a:srgbClr val="38BDF8"/>
                </a:solidFill>
                <a:latin typeface="JetBrains Mono"/>
              </a:rPr>
              <a:t>-&gt;prepare(</a:t>
            </a:r>
          </a:p>
          <a:p>
            <a:pPr>
              <a:lnSpc>
                <a:spcPts val="1575"/>
              </a:lnSpc>
            </a:pPr>
            <a:r>
              <a:rPr lang="es-BO" sz="1400" dirty="0">
                <a:solidFill>
                  <a:srgbClr val="38BDF8"/>
                </a:solidFill>
                <a:latin typeface="JetBrains Mono"/>
              </a:rPr>
              <a:t>    </a:t>
            </a:r>
            <a:r>
              <a:rPr lang="es-BO" sz="1400" dirty="0" err="1">
                <a:solidFill>
                  <a:srgbClr val="38BDF8"/>
                </a:solidFill>
                <a:latin typeface="JetBrains Mono"/>
              </a:rPr>
              <a:t>self</a:t>
            </a:r>
            <a:r>
              <a:rPr lang="es-BO" sz="1400" dirty="0">
                <a:solidFill>
                  <a:srgbClr val="38BDF8"/>
                </a:solidFill>
                <a:latin typeface="JetBrains Mono"/>
              </a:rPr>
              <a:t>::SELECCION . ' WHERE </a:t>
            </a:r>
            <a:r>
              <a:rPr lang="es-BO" sz="1400" dirty="0" err="1">
                <a:solidFill>
                  <a:srgbClr val="38BDF8"/>
                </a:solidFill>
                <a:latin typeface="JetBrains Mono"/>
              </a:rPr>
              <a:t>p.codigo</a:t>
            </a:r>
            <a:r>
              <a:rPr lang="es-BO" sz="1400" dirty="0">
                <a:solidFill>
                  <a:srgbClr val="38BDF8"/>
                </a:solidFill>
                <a:latin typeface="JetBrains Mono"/>
              </a:rPr>
              <a:t> = :</a:t>
            </a:r>
            <a:r>
              <a:rPr lang="es-BO" sz="1400" dirty="0" err="1">
                <a:solidFill>
                  <a:srgbClr val="38BDF8"/>
                </a:solidFill>
                <a:latin typeface="JetBrains Mono"/>
              </a:rPr>
              <a:t>codigo</a:t>
            </a:r>
            <a:r>
              <a:rPr lang="es-BO" sz="1400" dirty="0">
                <a:solidFill>
                  <a:srgbClr val="38BDF8"/>
                </a:solidFill>
                <a:latin typeface="JetBrains Mono"/>
              </a:rPr>
              <a:t>'</a:t>
            </a:r>
          </a:p>
          <a:p>
            <a:pPr>
              <a:lnSpc>
                <a:spcPts val="1575"/>
              </a:lnSpc>
            </a:pPr>
            <a:r>
              <a:rPr lang="es-BO" sz="1400" dirty="0">
                <a:solidFill>
                  <a:srgbClr val="38BDF8"/>
                </a:solidFill>
                <a:latin typeface="JetBrains Mono"/>
              </a:rPr>
              <a:t>);</a:t>
            </a:r>
          </a:p>
          <a:p>
            <a:pPr>
              <a:lnSpc>
                <a:spcPts val="1575"/>
              </a:lnSpc>
            </a:pPr>
            <a:r>
              <a:rPr lang="es-BO" sz="1400" dirty="0">
                <a:solidFill>
                  <a:srgbClr val="38BDF8"/>
                </a:solidFill>
                <a:latin typeface="JetBrains Mono"/>
              </a:rPr>
              <a:t>$consulta-&gt;</a:t>
            </a:r>
            <a:r>
              <a:rPr lang="es-BO" sz="1400" dirty="0" err="1">
                <a:solidFill>
                  <a:srgbClr val="38BDF8"/>
                </a:solidFill>
                <a:latin typeface="JetBrains Mono"/>
              </a:rPr>
              <a:t>execute</a:t>
            </a:r>
            <a:r>
              <a:rPr lang="es-BO" sz="1400" dirty="0">
                <a:solidFill>
                  <a:srgbClr val="38BDF8"/>
                </a:solidFill>
                <a:latin typeface="JetBrains Mono"/>
              </a:rPr>
              <a:t>(['</a:t>
            </a:r>
            <a:r>
              <a:rPr lang="es-BO" sz="1400" dirty="0" err="1">
                <a:solidFill>
                  <a:srgbClr val="38BDF8"/>
                </a:solidFill>
                <a:latin typeface="JetBrains Mono"/>
              </a:rPr>
              <a:t>codigo</a:t>
            </a:r>
            <a:r>
              <a:rPr lang="es-BO" sz="1400" dirty="0">
                <a:solidFill>
                  <a:srgbClr val="38BDF8"/>
                </a:solidFill>
                <a:latin typeface="JetBrains Mono"/>
              </a:rPr>
              <a:t>' =&gt; $</a:t>
            </a:r>
            <a:r>
              <a:rPr lang="es-BO" sz="1400" dirty="0" err="1">
                <a:solidFill>
                  <a:srgbClr val="38BDF8"/>
                </a:solidFill>
                <a:latin typeface="JetBrains Mono"/>
              </a:rPr>
              <a:t>codigo</a:t>
            </a:r>
            <a:r>
              <a:rPr lang="es-BO" sz="1400" dirty="0">
                <a:solidFill>
                  <a:srgbClr val="38BDF8"/>
                </a:solidFill>
                <a:latin typeface="JetBrains Mono"/>
              </a:rPr>
              <a:t>]);</a:t>
            </a:r>
          </a:p>
          <a:p>
            <a:pPr>
              <a:lnSpc>
                <a:spcPts val="1575"/>
              </a:lnSpc>
            </a:pPr>
            <a:r>
              <a:rPr lang="es-BO" sz="1400" dirty="0" err="1">
                <a:solidFill>
                  <a:srgbClr val="38BDF8"/>
                </a:solidFill>
                <a:latin typeface="JetBrains Mono"/>
              </a:rPr>
              <a:t>return</a:t>
            </a:r>
            <a:r>
              <a:rPr lang="es-BO" sz="1400" dirty="0">
                <a:solidFill>
                  <a:srgbClr val="38BDF8"/>
                </a:solidFill>
                <a:latin typeface="JetBrains Mono"/>
              </a:rPr>
              <a:t> $consulta-&gt;</a:t>
            </a:r>
            <a:r>
              <a:rPr lang="es-BO" sz="1400" dirty="0" err="1">
                <a:solidFill>
                  <a:srgbClr val="38BDF8"/>
                </a:solidFill>
                <a:latin typeface="JetBrains Mono"/>
              </a:rPr>
              <a:t>fetch</a:t>
            </a:r>
            <a:r>
              <a:rPr lang="es-BO" sz="1400" dirty="0">
                <a:solidFill>
                  <a:srgbClr val="38BDF8"/>
                </a:solidFill>
                <a:latin typeface="JetBrains Mono"/>
              </a:rPr>
              <a:t>() ?: </a:t>
            </a:r>
            <a:r>
              <a:rPr lang="es-BO" sz="1400" dirty="0" err="1">
                <a:solidFill>
                  <a:srgbClr val="38BDF8"/>
                </a:solidFill>
                <a:latin typeface="JetBrains Mono"/>
              </a:rPr>
              <a:t>null</a:t>
            </a:r>
            <a:r>
              <a:rPr lang="es-BO" sz="1400" dirty="0">
                <a:solidFill>
                  <a:srgbClr val="38BDF8"/>
                </a:solidFill>
                <a:latin typeface="JetBrains Mono"/>
              </a:rPr>
              <a:t>;</a:t>
            </a:r>
            <a:endParaRPr sz="1400" b="0" i="0" u="none" dirty="0">
              <a:solidFill>
                <a:srgbClr val="38BDF8"/>
              </a:solidFill>
              <a:latin typeface="JetBrains Mono"/>
            </a:endParaRPr>
          </a:p>
        </p:txBody>
      </p:sp>
      <p:pic>
        <p:nvPicPr>
          <p:cNvPr id="19" name="Picture 13">
            <a:extLst>
              <a:ext uri="{FF2B5EF4-FFF2-40B4-BE49-F238E27FC236}">
                <a16:creationId xmlns:a16="http://schemas.microsoft.com/office/drawing/2014/main" id="{649D0C71-D76A-AC60-EC0D-C1DB8EB53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655" y="1353831"/>
            <a:ext cx="5328285" cy="32943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78657" y="1070520"/>
            <a:ext cx="2628900" cy="1381125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90912" y="1070520"/>
            <a:ext cx="2628900" cy="1381125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1257" y="1070520"/>
            <a:ext cx="2628900" cy="1381125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22557" y="1070520"/>
            <a:ext cx="2628900" cy="1381125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8657" y="2442120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8657" y="1070520"/>
            <a:ext cx="2628900" cy="381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8657" y="1070520"/>
            <a:ext cx="9525" cy="13811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8032" y="1070520"/>
            <a:ext cx="9525" cy="13811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59957" y="2442120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59957" y="1070520"/>
            <a:ext cx="2628900" cy="381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59957" y="1070520"/>
            <a:ext cx="9525" cy="13811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79332" y="1070520"/>
            <a:ext cx="9525" cy="13811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41257" y="2442120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41257" y="1070520"/>
            <a:ext cx="2628900" cy="381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41257" y="1070520"/>
            <a:ext cx="9525" cy="13811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60632" y="1070520"/>
            <a:ext cx="9525" cy="13811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22557" y="2442120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22557" y="1070520"/>
            <a:ext cx="2628900" cy="381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022557" y="1070520"/>
            <a:ext cx="9525" cy="13811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641932" y="1070520"/>
            <a:ext cx="9525" cy="13811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9600" y="381000"/>
            <a:ext cx="64412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VALIDACIÓN TÉCNICA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00075"/>
            <a:ext cx="5157246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BO" sz="2100" b="1" i="0" u="none" dirty="0">
                <a:solidFill>
                  <a:srgbClr val="0F172A"/>
                </a:solidFill>
                <a:latin typeface="Space Grotesk"/>
              </a:rPr>
              <a:t>RESULTADOS DOCUMENTADOS EN BITÁCORAS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1337220"/>
            <a:ext cx="2690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Inter"/>
              </a:rPr>
              <a:t>LABORATORIO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1556295"/>
            <a:ext cx="2690812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0284C7"/>
                </a:solidFill>
                <a:latin typeface="Space Grotesk"/>
              </a:rPr>
              <a:t>14/14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2070645"/>
            <a:ext cx="2690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6A34A"/>
                </a:solidFill>
                <a:latin typeface="Inter"/>
              </a:rPr>
              <a:t>Comprobaciones 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1337220"/>
            <a:ext cx="2690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Inter"/>
              </a:rPr>
              <a:t>LABORATORIO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1556295"/>
            <a:ext cx="2690812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0284C7"/>
                </a:solidFill>
                <a:latin typeface="Space Grotesk"/>
              </a:rPr>
              <a:t>15/15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2070645"/>
            <a:ext cx="2690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6A34A"/>
                </a:solidFill>
                <a:latin typeface="Inter"/>
              </a:rPr>
              <a:t>Comprobaciones 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0300" y="1337220"/>
            <a:ext cx="2690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Inter"/>
              </a:rPr>
              <a:t>LABORATORIO 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0300" y="1556295"/>
            <a:ext cx="2690812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0284C7"/>
                </a:solidFill>
                <a:latin typeface="Space Grotesk"/>
              </a:rPr>
              <a:t>15/15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0300" y="2070645"/>
            <a:ext cx="2690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6A34A"/>
                </a:solidFill>
                <a:latin typeface="Inter"/>
              </a:rPr>
              <a:t>Comprobaciones 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1600" y="1337220"/>
            <a:ext cx="2690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Inter"/>
              </a:rPr>
              <a:t>LABORATORIO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91600" y="1556295"/>
            <a:ext cx="2690812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0284C7"/>
                </a:solidFill>
                <a:latin typeface="Space Grotesk"/>
              </a:rPr>
              <a:t>14/14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91600" y="2070645"/>
            <a:ext cx="2690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6A34A"/>
                </a:solidFill>
                <a:latin typeface="Inter"/>
              </a:rPr>
              <a:t>Comprobaciones OK</a:t>
            </a:r>
          </a:p>
        </p:txBody>
      </p:sp>
      <p:pic>
        <p:nvPicPr>
          <p:cNvPr id="48" name="Picture 12">
            <a:extLst>
              <a:ext uri="{FF2B5EF4-FFF2-40B4-BE49-F238E27FC236}">
                <a16:creationId xmlns:a16="http://schemas.microsoft.com/office/drawing/2014/main" id="{E72971D5-8F27-7B72-2EA1-84B1B93FD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287" y="2695241"/>
            <a:ext cx="4016955" cy="2890520"/>
          </a:xfrm>
          <a:prstGeom prst="rect">
            <a:avLst/>
          </a:prstGeom>
        </p:spPr>
      </p:pic>
      <p:pic>
        <p:nvPicPr>
          <p:cNvPr id="49" name="Picture 3">
            <a:extLst>
              <a:ext uri="{FF2B5EF4-FFF2-40B4-BE49-F238E27FC236}">
                <a16:creationId xmlns:a16="http://schemas.microsoft.com/office/drawing/2014/main" id="{4F981B98-A48D-F02F-DE8A-02F0C934B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801" y="2659739"/>
            <a:ext cx="3362021" cy="2890520"/>
          </a:xfrm>
          <a:prstGeom prst="rect">
            <a:avLst/>
          </a:prstGeom>
        </p:spPr>
      </p:pic>
      <p:pic>
        <p:nvPicPr>
          <p:cNvPr id="50" name="Picture 2">
            <a:extLst>
              <a:ext uri="{FF2B5EF4-FFF2-40B4-BE49-F238E27FC236}">
                <a16:creationId xmlns:a16="http://schemas.microsoft.com/office/drawing/2014/main" id="{60030CDF-C25D-FD05-7DE1-05C7B7CD3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758" y="2659739"/>
            <a:ext cx="4064578" cy="2890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43344" y="1426611"/>
            <a:ext cx="11188121" cy="631706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Rounded Rectangle 3"/>
          <p:cNvSpPr/>
          <p:nvPr/>
        </p:nvSpPr>
        <p:spPr>
          <a:xfrm>
            <a:off x="409574" y="2201192"/>
            <a:ext cx="11188121" cy="6286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" name="Rounded Rectangle 4"/>
          <p:cNvSpPr/>
          <p:nvPr/>
        </p:nvSpPr>
        <p:spPr>
          <a:xfrm>
            <a:off x="443344" y="2972716"/>
            <a:ext cx="11188121" cy="663337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Rounded Rectangle 5"/>
          <p:cNvSpPr/>
          <p:nvPr/>
        </p:nvSpPr>
        <p:spPr>
          <a:xfrm>
            <a:off x="443344" y="3778928"/>
            <a:ext cx="11188121" cy="663337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Rounded Rectangle 6"/>
          <p:cNvSpPr/>
          <p:nvPr/>
        </p:nvSpPr>
        <p:spPr>
          <a:xfrm>
            <a:off x="409574" y="4585498"/>
            <a:ext cx="11188121" cy="663336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TextBox 9"/>
          <p:cNvSpPr txBox="1"/>
          <p:nvPr/>
        </p:nvSpPr>
        <p:spPr>
          <a:xfrm>
            <a:off x="609600" y="381000"/>
            <a:ext cx="51456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Inter"/>
              </a:rPr>
              <a:t>SÍNTESIS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0075"/>
            <a:ext cx="1803379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BO" sz="2100" b="1" i="0" u="none" dirty="0">
                <a:solidFill>
                  <a:srgbClr val="0F172A"/>
                </a:solidFill>
                <a:latin typeface="Space Grotesk"/>
              </a:rPr>
              <a:t>CONCLUSIONES</a:t>
            </a:r>
            <a:r>
              <a:rPr sz="2100" b="1" i="0" u="none" dirty="0">
                <a:solidFill>
                  <a:srgbClr val="0F172A"/>
                </a:solidFill>
                <a:latin typeface="Space Grotesk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370" y="1569485"/>
            <a:ext cx="1095432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Inter"/>
              </a:rPr>
              <a:t>Alejandro Fabián Cabrera Flores: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La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implementación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de Composer y PSR-4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mejoró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la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estructura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de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clases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y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eliminó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la carga manual de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archivos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mediante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autoloading.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344067"/>
            <a:ext cx="11134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Inter"/>
              </a:rPr>
              <a:t>María Alejandra Suárez O.: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La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herencia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, interfaces, traits y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polimorfismo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permitieron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modelar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productos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y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servicios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flexibles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en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un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catálogo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unificado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370" y="3115592"/>
            <a:ext cx="1028283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F172A"/>
                </a:solidFill>
                <a:latin typeface="Inter"/>
              </a:rPr>
              <a:t>Jade Guissel Flores Coria:</a:t>
            </a:r>
            <a:r>
              <a:rPr sz="1400" b="0" i="0" u="none">
                <a:solidFill>
                  <a:srgbClr val="0F172A"/>
                </a:solidFill>
                <a:latin typeface="Inter"/>
              </a:rPr>
              <a:t> El Front Controller y el Router centralizaron el flujo HTTP, mientras el escape de plantillas fortaleció la seguridad.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370" y="3921804"/>
            <a:ext cx="1120186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Inter"/>
              </a:rPr>
              <a:t>Ariel Salas </a:t>
            </a:r>
            <a:r>
              <a:rPr sz="1400" b="1" i="0" u="none" dirty="0" err="1">
                <a:solidFill>
                  <a:srgbClr val="0F172A"/>
                </a:solidFill>
                <a:latin typeface="Inter"/>
              </a:rPr>
              <a:t>Tococari</a:t>
            </a:r>
            <a:r>
              <a:rPr sz="1400" b="1" i="0" u="none" dirty="0">
                <a:solidFill>
                  <a:srgbClr val="0F172A"/>
                </a:solidFill>
                <a:latin typeface="Inter"/>
              </a:rPr>
              <a:t>: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La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adopción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de PDO y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consultas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preparadas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aisló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los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datos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de la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lógica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SQL,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previniendo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inyecciones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SQL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en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las </a:t>
            </a:r>
            <a:r>
              <a:rPr sz="1400" b="0" i="0" u="none" dirty="0" err="1">
                <a:solidFill>
                  <a:srgbClr val="0F172A"/>
                </a:solidFill>
                <a:latin typeface="Inter"/>
              </a:rPr>
              <a:t>operaciones</a:t>
            </a:r>
            <a:r>
              <a:rPr sz="1400" b="0" i="0" u="none" dirty="0">
                <a:solidFill>
                  <a:srgbClr val="0F172A"/>
                </a:solidFill>
                <a:latin typeface="Inter"/>
              </a:rPr>
              <a:t> CRUD.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728373"/>
            <a:ext cx="1042340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F172A"/>
                </a:solidFill>
                <a:latin typeface="Inter"/>
              </a:rPr>
              <a:t>Renzo Molina Navia:</a:t>
            </a:r>
            <a:r>
              <a:rPr sz="1400" b="0" i="0" u="none">
                <a:solidFill>
                  <a:srgbClr val="0F172A"/>
                </a:solidFill>
                <a:latin typeface="Inter"/>
              </a:rPr>
              <a:t> El patrón repositorio, filtros y paginación optimizaron la gestión de datos respaldados por verificadores automatizados.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724525"/>
            <a:ext cx="10972800" cy="600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72452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1381125"/>
            <a:ext cx="5410200" cy="1276350"/>
          </a:xfrm>
          <a:prstGeom prst="roundRect">
            <a:avLst>
              <a:gd name="adj" fmla="val 11428"/>
            </a:avLst>
          </a:prstGeom>
          <a:solidFill>
            <a:srgbClr val="171F36"/>
          </a:solidFill>
          <a:ln w="9525">
            <a:solidFill>
              <a:srgbClr val="23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6172199" y="1381125"/>
            <a:ext cx="5728855" cy="1276350"/>
          </a:xfrm>
          <a:prstGeom prst="roundRect">
            <a:avLst>
              <a:gd name="adj" fmla="val 11428"/>
            </a:avLst>
          </a:prstGeom>
          <a:solidFill>
            <a:srgbClr val="171F36"/>
          </a:solidFill>
          <a:ln w="9525">
            <a:solidFill>
              <a:srgbClr val="23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ounded Rectangle 6"/>
          <p:cNvSpPr/>
          <p:nvPr/>
        </p:nvSpPr>
        <p:spPr>
          <a:xfrm>
            <a:off x="609600" y="2895600"/>
            <a:ext cx="5410200" cy="1250752"/>
          </a:xfrm>
          <a:prstGeom prst="roundRect">
            <a:avLst>
              <a:gd name="adj" fmla="val 11594"/>
            </a:avLst>
          </a:prstGeom>
          <a:solidFill>
            <a:srgbClr val="171F36"/>
          </a:solidFill>
          <a:ln w="9525">
            <a:solidFill>
              <a:srgbClr val="23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6196878" y="2895600"/>
            <a:ext cx="5704176" cy="1250752"/>
          </a:xfrm>
          <a:prstGeom prst="roundRect">
            <a:avLst>
              <a:gd name="adj" fmla="val 11594"/>
            </a:avLst>
          </a:prstGeom>
          <a:solidFill>
            <a:srgbClr val="171F36"/>
          </a:solidFill>
          <a:ln w="9525">
            <a:solidFill>
              <a:srgbClr val="232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224785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8BDF8"/>
                </a:solidFill>
                <a:latin typeface="Inter"/>
              </a:rPr>
              <a:t>RECOMENDACIONES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79542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FFFFFF"/>
                </a:solidFill>
                <a:latin typeface="Space Grotesk"/>
              </a:rPr>
              <a:t>Prácticas</a:t>
            </a:r>
            <a:r>
              <a:rPr sz="2000" b="1" i="0" u="none" dirty="0">
                <a:solidFill>
                  <a:srgbClr val="FFFFFF"/>
                </a:solidFill>
                <a:latin typeface="Space Grotesk"/>
              </a:rPr>
              <a:t> </a:t>
            </a:r>
            <a:r>
              <a:rPr sz="2000" b="1" i="0" u="none" dirty="0" err="1">
                <a:solidFill>
                  <a:srgbClr val="FFFFFF"/>
                </a:solidFill>
                <a:latin typeface="Space Grotesk"/>
              </a:rPr>
              <a:t>Futuras</a:t>
            </a:r>
            <a:endParaRPr sz="20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600" y="5924550"/>
            <a:ext cx="128323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Space Grotesk"/>
              </a:rPr>
              <a:t>¡Muchas Gracias!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172200"/>
            <a:ext cx="405053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94A3B8"/>
                </a:solidFill>
                <a:latin typeface="Inter"/>
              </a:rPr>
              <a:t>Estamos listos para la sesión de preguntas y respuestas.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1543050"/>
            <a:ext cx="305885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38BDF8"/>
                </a:solidFill>
                <a:latin typeface="Inter"/>
              </a:rPr>
              <a:t>1. Seguridad de Credenciales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862" y="1895800"/>
            <a:ext cx="501967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Mantener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claves y DSN fuera del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directorio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web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público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public/.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4125" y="1543050"/>
            <a:ext cx="321639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8BDF8"/>
                </a:solidFill>
                <a:latin typeface="Inter"/>
              </a:rPr>
              <a:t>2. </a:t>
            </a:r>
            <a:r>
              <a:rPr sz="2000" b="1" i="0" u="none" dirty="0" err="1">
                <a:solidFill>
                  <a:srgbClr val="38BDF8"/>
                </a:solidFill>
                <a:latin typeface="Inter"/>
              </a:rPr>
              <a:t>Parametrización</a:t>
            </a:r>
            <a:r>
              <a:rPr sz="2000" b="1" i="0" u="none" dirty="0">
                <a:solidFill>
                  <a:srgbClr val="38BDF8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38BDF8"/>
                </a:solidFill>
                <a:latin typeface="Inter"/>
              </a:rPr>
              <a:t>Obligatoria</a:t>
            </a:r>
            <a:endParaRPr sz="2000" b="1" i="0" u="none" dirty="0">
              <a:solidFill>
                <a:srgbClr val="38BDF8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58804" y="1843683"/>
            <a:ext cx="515302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Mantener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consultas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preparadas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en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el 100% de las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interacciones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con la base de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datos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3057525"/>
            <a:ext cx="354314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8BDF8"/>
                </a:solidFill>
                <a:latin typeface="Inter"/>
              </a:rPr>
              <a:t>3. </a:t>
            </a:r>
            <a:r>
              <a:rPr sz="2000" b="1" i="0" u="none" dirty="0" err="1">
                <a:solidFill>
                  <a:srgbClr val="38BDF8"/>
                </a:solidFill>
                <a:latin typeface="Inter"/>
              </a:rPr>
              <a:t>Listas</a:t>
            </a:r>
            <a:r>
              <a:rPr sz="2000" b="1" i="0" u="none" dirty="0">
                <a:solidFill>
                  <a:srgbClr val="38BDF8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38BDF8"/>
                </a:solidFill>
                <a:latin typeface="Inter"/>
              </a:rPr>
              <a:t>Permitidas</a:t>
            </a:r>
            <a:r>
              <a:rPr sz="2000" b="1" i="0" u="none" dirty="0">
                <a:solidFill>
                  <a:srgbClr val="38BDF8"/>
                </a:solidFill>
                <a:latin typeface="Inter"/>
              </a:rPr>
              <a:t> (Whitelisting)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3397448"/>
            <a:ext cx="501967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>
                <a:solidFill>
                  <a:srgbClr val="CBD5E1"/>
                </a:solidFill>
                <a:latin typeface="Inter"/>
              </a:rPr>
              <a:t>Validar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estrictamente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parámetros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de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ordenamiento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y campos de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paginación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8803" y="2995612"/>
            <a:ext cx="245644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8BDF8"/>
                </a:solidFill>
                <a:latin typeface="Inter"/>
              </a:rPr>
              <a:t>4. Control de </a:t>
            </a:r>
            <a:r>
              <a:rPr sz="2000" b="1" i="0" u="none" dirty="0" err="1">
                <a:solidFill>
                  <a:srgbClr val="38BDF8"/>
                </a:solidFill>
                <a:latin typeface="Inter"/>
              </a:rPr>
              <a:t>Versiones</a:t>
            </a:r>
            <a:endParaRPr sz="2000" b="1" i="0" u="none" dirty="0">
              <a:solidFill>
                <a:srgbClr val="38BDF8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58804" y="3303389"/>
            <a:ext cx="538985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Conservar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los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scripts de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verificación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y el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historial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de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cambios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en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na">
  <a:themeElements>
    <a:clrScheme name="Duna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53</TotalTime>
  <Words>858</Words>
  <Application>Microsoft Office PowerPoint</Application>
  <PresentationFormat>Panorámica</PresentationFormat>
  <Paragraphs>98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Aptos</vt:lpstr>
      <vt:lpstr>Space Grotesk</vt:lpstr>
      <vt:lpstr>Inter</vt:lpstr>
      <vt:lpstr>Neue Haas Grotesk Text Pro</vt:lpstr>
      <vt:lpstr>JetBrains Mono</vt:lpstr>
      <vt:lpstr>Duna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JADE</dc:creator>
  <cp:keywords/>
  <dc:description>generated using python-pptx</dc:description>
  <cp:lastModifiedBy>jade guissel flores coria</cp:lastModifiedBy>
  <cp:revision>2</cp:revision>
  <dcterms:created xsi:type="dcterms:W3CDTF">2013-01-27T09:14:16Z</dcterms:created>
  <dcterms:modified xsi:type="dcterms:W3CDTF">2026-10-19T05:45:31Z</dcterms:modified>
  <cp:category/>
</cp:coreProperties>
</file>